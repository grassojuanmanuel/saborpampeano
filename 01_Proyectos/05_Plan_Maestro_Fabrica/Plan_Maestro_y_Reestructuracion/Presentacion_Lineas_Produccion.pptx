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SABOR PAMPEANO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D6A0"/>
                </a:solidFill>
                <a:latin typeface="Segoe UI"/>
              </a:defRPr>
            </a:pPr>
            <a:r>
              <a:t>Líneas de Producción y Organización de Planta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Presentación de Procesos Productivos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Ing. Juan Manuel Grasso — Jefe de Operaciones  |  08/05/2026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ORGANIZACIÓN POR TURNOS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☀  TURNO MAÑANA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🥧 TARTAS, TORTILLAS Y EMPANADAS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Encargada: Any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Tartas: 15 variedades (común + integral)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Tortillas de papa y cebolla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Empanadas congeladas (NUEVA LÍNEA)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Amasado en nueva área TACC-free (4×4m)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Horneado → Enfriado → Sellado → Cámara fría → 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🫙 LÍNEA ROBOQBO — Mermeladas, Hummus y Salsas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Encargadas: Dani + Karen (ambos turnos)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Mermeladas (9), Hummus (8), Patés (6), Salsas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Proceso: ROBOQBO → Llenado → Tapado → Autoclave → QC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Controles: °Brix, PH por lote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Opera mañana Y tarde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898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🌙  TURNO TARDE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🫙 LÍNEA ROBOQBO (continúa)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68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Encargadas: Dani + Karen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Misma línea: Roboqbo → Llenado → Tapado → Autoclave → QC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Producción complementaria de conservas/hummus/salsas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0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🍳 ESCABECHES, ENCURTIDOS Y ACEITUNAS (en olla)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Encargado: Raúl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Proceso: Preparación en OLLA (NO usa Roboqbo) → Llenado → Tapado → Autoclave → QC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Línea independiente, solo turno tarde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Reprocesos frecuentes (falta líquido/aceite)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21208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❄  LIOFILIZADOS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577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Liofilizadora ORZF-5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Blast Chiller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 implementación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521208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5285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🍽  VIANDAS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5577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Sous vide, Wok, Anafes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Platos preparados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Reactivación pendiente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LÍNEA TARTAS, TORTILLAS Y EMPANADAS — Flujo de Producción</a:t>
            </a:r>
          </a:p>
        </p:txBody>
      </p:sp>
      <p:sp>
        <p:nvSpPr>
          <p:cNvPr id="4" name="Chevron 3"/>
          <p:cNvSpPr/>
          <p:nvPr/>
        </p:nvSpPr>
        <p:spPr>
          <a:xfrm>
            <a:off x="274320" y="1371600"/>
            <a:ext cx="1234440" cy="640080"/>
          </a:xfrm>
          <a:prstGeom prst="chevron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AMASADORA</a:t>
            </a:r>
          </a:p>
        </p:txBody>
      </p:sp>
      <p:sp>
        <p:nvSpPr>
          <p:cNvPr id="5" name="Chevron 4"/>
          <p:cNvSpPr/>
          <p:nvPr/>
        </p:nvSpPr>
        <p:spPr>
          <a:xfrm>
            <a:off x="1536192" y="1371600"/>
            <a:ext cx="1234440" cy="640080"/>
          </a:xfrm>
          <a:prstGeom prst="chevron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SOBADORA</a:t>
            </a:r>
          </a:p>
        </p:txBody>
      </p:sp>
      <p:sp>
        <p:nvSpPr>
          <p:cNvPr id="6" name="Chevron 5"/>
          <p:cNvSpPr/>
          <p:nvPr/>
        </p:nvSpPr>
        <p:spPr>
          <a:xfrm>
            <a:off x="2798064" y="1371600"/>
            <a:ext cx="1234440" cy="640080"/>
          </a:xfrm>
          <a:prstGeom prst="chevron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MESADA</a:t>
            </a:r>
            <a:br/>
            <a:r>
              <a:t>Corte manual</a:t>
            </a:r>
          </a:p>
        </p:txBody>
      </p:sp>
      <p:sp>
        <p:nvSpPr>
          <p:cNvPr id="7" name="Chevron 6"/>
          <p:cNvSpPr/>
          <p:nvPr/>
        </p:nvSpPr>
        <p:spPr>
          <a:xfrm>
            <a:off x="4059936" y="1371600"/>
            <a:ext cx="1234440" cy="640080"/>
          </a:xfrm>
          <a:prstGeom prst="chevron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ARMADO</a:t>
            </a:r>
            <a:br/>
            <a:r>
              <a:t>Relleno</a:t>
            </a:r>
          </a:p>
        </p:txBody>
      </p:sp>
      <p:sp>
        <p:nvSpPr>
          <p:cNvPr id="8" name="Chevron 7"/>
          <p:cNvSpPr/>
          <p:nvPr/>
        </p:nvSpPr>
        <p:spPr>
          <a:xfrm>
            <a:off x="5321808" y="1371600"/>
            <a:ext cx="123444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HORNOS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0" y="1371600"/>
            <a:ext cx="123444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ENFRIADORES</a:t>
            </a:r>
          </a:p>
        </p:txBody>
      </p:sp>
      <p:sp>
        <p:nvSpPr>
          <p:cNvPr id="10" name="Chevron 9"/>
          <p:cNvSpPr/>
          <p:nvPr/>
        </p:nvSpPr>
        <p:spPr>
          <a:xfrm>
            <a:off x="7845552" y="1371600"/>
            <a:ext cx="123444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SELLADO</a:t>
            </a:r>
            <a:br/>
            <a:r>
              <a:t>Vacío</a:t>
            </a:r>
          </a:p>
        </p:txBody>
      </p:sp>
      <p:sp>
        <p:nvSpPr>
          <p:cNvPr id="11" name="Chevron 10"/>
          <p:cNvSpPr/>
          <p:nvPr/>
        </p:nvSpPr>
        <p:spPr>
          <a:xfrm>
            <a:off x="9107424" y="1371600"/>
            <a:ext cx="123444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CÁMARA</a:t>
            </a:r>
            <a:br/>
            <a:r>
              <a:t>FRÍA</a:t>
            </a:r>
          </a:p>
        </p:txBody>
      </p:sp>
      <p:sp>
        <p:nvSpPr>
          <p:cNvPr id="12" name="Chevron 11"/>
          <p:cNvSpPr/>
          <p:nvPr/>
        </p:nvSpPr>
        <p:spPr>
          <a:xfrm>
            <a:off x="10369296" y="1371600"/>
            <a:ext cx="123444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7744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⚙ EQUIPAMIENTO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43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NUEVA ÁREA TACC-FREE (ampliación 4×4m):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Amasadora + Sobadora sobre mesada 3×0.9m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Rack insumos 4×0.9m (harina, sal, azúcar, manteca)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Empanadora semiautomática + Mesa + Heladera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 COCINA: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Horno Rational + Pizzero, Enfriadoras, 2 Turbovar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Freidora (papas para tortillas)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3774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2450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📋 PRODUCTOS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7432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TARTAS (15 variedades):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Calabaza, Acelga, Verduras, Caprese, Humita,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Jamón y Queso, Cebolla Caramelizada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+ versiones INTEGRAL de cada una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TORTILLAS: Papa y Ceb. / Papa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EMPANADAS CONGELADAS (NUEVA):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Varios rellenos, venta congelada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📌 NOTAS OPERATIVAS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43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Área de amasado en ampliación 4×4m (NO en cocina)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Separación física: libre de TACC potencial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Acceso por pasillo (junto a peladero y rompedora)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Cortina tipo carnicería en acceso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Encargada: Any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Empanadas: Armado en área nueva, rellenos desde cocina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11430000" cy="457200"/>
          </a:xfrm>
          <a:prstGeom prst="rect">
            <a:avLst/>
          </a:prstGeom>
          <a:solidFill>
            <a:srgbClr val="C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Volumen promedio: Tortillas 60-120 uds  |  Tartas 30-60 uds/var.  |  Empanadas: A definir según demanda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LÍNEA ROBOQBO — Mermeladas, Hummus y Salsas (Mañana + Tarde)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" y="1371600"/>
            <a:ext cx="1325880" cy="640080"/>
          </a:xfrm>
          <a:prstGeom prst="chevron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ROBOQBO</a:t>
            </a:r>
          </a:p>
        </p:txBody>
      </p:sp>
      <p:sp>
        <p:nvSpPr>
          <p:cNvPr id="5" name="Chevron 4"/>
          <p:cNvSpPr/>
          <p:nvPr/>
        </p:nvSpPr>
        <p:spPr>
          <a:xfrm>
            <a:off x="1828800" y="1371600"/>
            <a:ext cx="1325880" cy="640080"/>
          </a:xfrm>
          <a:prstGeom prst="chevron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BOMBA</a:t>
            </a:r>
            <a:br/>
            <a:r>
              <a:t>Elevadora</a:t>
            </a:r>
          </a:p>
        </p:txBody>
      </p:sp>
      <p:sp>
        <p:nvSpPr>
          <p:cNvPr id="6" name="Chevron 5"/>
          <p:cNvSpPr/>
          <p:nvPr/>
        </p:nvSpPr>
        <p:spPr>
          <a:xfrm>
            <a:off x="3200400" y="1371600"/>
            <a:ext cx="132588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LLENADORA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0" y="1371600"/>
            <a:ext cx="132588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TAPADORA</a:t>
            </a:r>
          </a:p>
        </p:txBody>
      </p:sp>
      <p:sp>
        <p:nvSpPr>
          <p:cNvPr id="8" name="Chevron 7"/>
          <p:cNvSpPr/>
          <p:nvPr/>
        </p:nvSpPr>
        <p:spPr>
          <a:xfrm>
            <a:off x="5943600" y="1371600"/>
            <a:ext cx="132588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AUTOCLAVE</a:t>
            </a:r>
          </a:p>
        </p:txBody>
      </p:sp>
      <p:sp>
        <p:nvSpPr>
          <p:cNvPr id="9" name="Chevron 8"/>
          <p:cNvSpPr/>
          <p:nvPr/>
        </p:nvSpPr>
        <p:spPr>
          <a:xfrm>
            <a:off x="7315200" y="1371600"/>
            <a:ext cx="132588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CONTROL DE</a:t>
            </a:r>
            <a:br/>
            <a:r>
              <a:t>CALIDAD</a:t>
            </a:r>
          </a:p>
        </p:txBody>
      </p:sp>
      <p:sp>
        <p:nvSpPr>
          <p:cNvPr id="10" name="Chevron 9"/>
          <p:cNvSpPr/>
          <p:nvPr/>
        </p:nvSpPr>
        <p:spPr>
          <a:xfrm>
            <a:off x="8686800" y="1371600"/>
            <a:ext cx="132588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LIBERADO/</a:t>
            </a:r>
            <a:br/>
            <a:r>
              <a:t>REPROCESO</a:t>
            </a:r>
          </a:p>
        </p:txBody>
      </p:sp>
      <p:sp>
        <p:nvSpPr>
          <p:cNvPr id="11" name="Chevron 10"/>
          <p:cNvSpPr/>
          <p:nvPr/>
        </p:nvSpPr>
        <p:spPr>
          <a:xfrm>
            <a:off x="10058400" y="1371600"/>
            <a:ext cx="132588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⚙ EQUIPAMIENTO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43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Roboqbo QBO 25-4: Procesadora 25L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Bomba elevadora: Entre Roboqbo y Llenadora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Llenadora: Tolva 60L (Cadec)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RSL 1800P Tapadora (Cadec)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Autoclave a vapor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Compresor 3HP/200L (pliego SP-OC-2026-002)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Aire comprimido para Llenadora + Tapadora + Autoclave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3774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450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📋 PRODUCTOS (pasan por Roboqbo)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7432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Mermeladas: Frutilla, Durazno, Ciruela, Naranja, Higo,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Tomate, Pera, Zapallo/Manzana, Arándano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Hummus: Tradicional, Ajo, Berenjena, Pimiento,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Remolacha, Zanahoria, Finas Hierbas, Guacamole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Patés: Tomate, Zanahoria, Remolacha, Ceb. Morada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Salsas: Tomate Triturado (940g y 500g)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Cebolla Caramelizada, Cherry Confitado, Frutas en almíbar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37744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📌 IMPORTANTE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43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Opera en AMBOS TURNOS (mañana y tarde)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Encargadas: Dani + Karen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Raúl NO opera esta línea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Control por lote: °Brix y PH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Tolva LSL 60L = 2+ batches de Roboqbo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Línea más explayada gracias a ampliación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11430000" cy="457200"/>
          </a:xfrm>
          <a:prstGeom prst="rect">
            <a:avLst/>
          </a:prstGeom>
          <a:solidFill>
            <a:srgbClr val="C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Volumen promedio: Mermeladas 100-300  |  Hummus 100-350  |  Salsas 80-400 frascos-botellas/día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ESCABECHES, ENCURTIDOS Y ACEITUNAS — Solo Turno Tarde (en olla)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" y="1371600"/>
            <a:ext cx="1325880" cy="64008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PREPARACIÓN</a:t>
            </a:r>
          </a:p>
        </p:txBody>
      </p:sp>
      <p:sp>
        <p:nvSpPr>
          <p:cNvPr id="5" name="Chevron 4"/>
          <p:cNvSpPr/>
          <p:nvPr/>
        </p:nvSpPr>
        <p:spPr>
          <a:xfrm>
            <a:off x="1828800" y="1371600"/>
            <a:ext cx="1325880" cy="64008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COCCIÓN</a:t>
            </a:r>
            <a:br/>
            <a:r>
              <a:t>En olla</a:t>
            </a:r>
          </a:p>
        </p:txBody>
      </p:sp>
      <p:sp>
        <p:nvSpPr>
          <p:cNvPr id="6" name="Chevron 5"/>
          <p:cNvSpPr/>
          <p:nvPr/>
        </p:nvSpPr>
        <p:spPr>
          <a:xfrm>
            <a:off x="3200400" y="1371600"/>
            <a:ext cx="1325880" cy="64008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LLENADO</a:t>
            </a:r>
            <a:br/>
            <a:r>
              <a:t>Manual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0" y="1371600"/>
            <a:ext cx="132588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TAPADO</a:t>
            </a:r>
          </a:p>
        </p:txBody>
      </p:sp>
      <p:sp>
        <p:nvSpPr>
          <p:cNvPr id="8" name="Chevron 7"/>
          <p:cNvSpPr/>
          <p:nvPr/>
        </p:nvSpPr>
        <p:spPr>
          <a:xfrm>
            <a:off x="5943600" y="1371600"/>
            <a:ext cx="1325880" cy="64008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AUTOCLAVE</a:t>
            </a:r>
          </a:p>
        </p:txBody>
      </p:sp>
      <p:sp>
        <p:nvSpPr>
          <p:cNvPr id="9" name="Chevron 8"/>
          <p:cNvSpPr/>
          <p:nvPr/>
        </p:nvSpPr>
        <p:spPr>
          <a:xfrm>
            <a:off x="7315200" y="1371600"/>
            <a:ext cx="132588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CONTROL DE</a:t>
            </a:r>
            <a:br/>
            <a:r>
              <a:t>CALIDAD</a:t>
            </a:r>
          </a:p>
        </p:txBody>
      </p:sp>
      <p:sp>
        <p:nvSpPr>
          <p:cNvPr id="10" name="Chevron 9"/>
          <p:cNvSpPr/>
          <p:nvPr/>
        </p:nvSpPr>
        <p:spPr>
          <a:xfrm>
            <a:off x="8686800" y="1371600"/>
            <a:ext cx="132588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LIBERADO/</a:t>
            </a:r>
            <a:br/>
            <a:r>
              <a:t>REPROCESO</a:t>
            </a:r>
          </a:p>
        </p:txBody>
      </p:sp>
      <p:sp>
        <p:nvSpPr>
          <p:cNvPr id="11" name="Chevron 10"/>
          <p:cNvSpPr/>
          <p:nvPr/>
        </p:nvSpPr>
        <p:spPr>
          <a:xfrm>
            <a:off x="10058400" y="1371600"/>
            <a:ext cx="1325880" cy="64008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⚙ EQUIPAMIENTO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43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Ollas de cocción (NO usa Roboqbo)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Anafes de cocina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Llenado manual en frascos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Tapadora manual o Cadec (según producto)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Autoclave: Compartido con línea Roboqbo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Línea INDEPENDIENTE de la Roboqbo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3774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450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📋 PRODUCTOS (NO pasan por Roboqbo)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7432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ESCABECHES: Berenjena, Morrones,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Lentejas, Garbanzos, Pallares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ENCURTIDOS: Ajíes en Vinagre (350g y 750g),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Pepinillos en Vinagre, Encurtidos Mixtos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ACEITUNAS: Verdes C/C, S/C, Rellenas,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Negras C/C (frascos y garrafas)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37744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📌 NOTAS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43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Encargado: Raúl (turno tarde exclusivo)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Cocción en olla, proceso artesanal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Reprocesos frecuentes: falta líquido/aceite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Aceitunas: Envasado manual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Comparten Autoclave con línea Roboqbo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Control de calidad antes de liberación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11430000" cy="457200"/>
          </a:xfrm>
          <a:prstGeom prst="rect">
            <a:avLst/>
          </a:prstGeom>
          <a:solidFill>
            <a:srgbClr val="B4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3C1E"/>
                </a:solidFill>
                <a:latin typeface="Segoe UI"/>
              </a:defRPr>
            </a:pPr>
            <a:r>
              <a:t>Volumen promedio: Escabeches 100-200 frascos/día  |  Aceitunas según demanda  |  Encurtidos 60-150 frascos/día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LIOFILIZADOS Y VIANDAS — Turno Tarde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5D23"/>
                </a:solidFill>
                <a:latin typeface="Segoe UI"/>
              </a:defRPr>
            </a:pPr>
            <a:r>
              <a:t>❄  LÍNEA LIOFILIZADOS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1645920"/>
            <a:ext cx="1005840" cy="59436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PREPARACIÓN</a:t>
            </a:r>
            <a:br/>
            <a:r>
              <a:t>Corte/Porción</a:t>
            </a:r>
          </a:p>
        </p:txBody>
      </p:sp>
      <p:sp>
        <p:nvSpPr>
          <p:cNvPr id="6" name="Chevron 5"/>
          <p:cNvSpPr/>
          <p:nvPr/>
        </p:nvSpPr>
        <p:spPr>
          <a:xfrm>
            <a:off x="1508760" y="1645920"/>
            <a:ext cx="1005840" cy="59436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BLAST CHILLER</a:t>
            </a:r>
            <a:br/>
            <a:r>
              <a:t>Pre-enfriam.</a:t>
            </a:r>
          </a:p>
        </p:txBody>
      </p:sp>
      <p:sp>
        <p:nvSpPr>
          <p:cNvPr id="7" name="Chevron 6"/>
          <p:cNvSpPr/>
          <p:nvPr/>
        </p:nvSpPr>
        <p:spPr>
          <a:xfrm>
            <a:off x="2560320" y="1645920"/>
            <a:ext cx="1005840" cy="594360"/>
          </a:xfrm>
          <a:prstGeom prst="chevron">
            <a:avLst/>
          </a:prstGeom>
          <a:solidFill>
            <a:srgbClr val="32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LIOFILIZADORA</a:t>
            </a:r>
            <a:br/>
            <a:r>
              <a:t>ORZF-5</a:t>
            </a:r>
          </a:p>
        </p:txBody>
      </p:sp>
      <p:sp>
        <p:nvSpPr>
          <p:cNvPr id="8" name="Chevron 7"/>
          <p:cNvSpPr/>
          <p:nvPr/>
        </p:nvSpPr>
        <p:spPr>
          <a:xfrm>
            <a:off x="3611880" y="1645920"/>
            <a:ext cx="1005840" cy="59436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ENVASADO</a:t>
            </a:r>
            <a:br/>
            <a:r>
              <a:t>Sellado</a:t>
            </a:r>
          </a:p>
        </p:txBody>
      </p:sp>
      <p:sp>
        <p:nvSpPr>
          <p:cNvPr id="9" name="Chevron 8"/>
          <p:cNvSpPr/>
          <p:nvPr/>
        </p:nvSpPr>
        <p:spPr>
          <a:xfrm>
            <a:off x="4663440" y="1645920"/>
            <a:ext cx="1005840" cy="59436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CONTROL DE</a:t>
            </a:r>
            <a:br/>
            <a:r>
              <a:t>CALIDAD</a:t>
            </a:r>
          </a:p>
        </p:txBody>
      </p:sp>
      <p:sp>
        <p:nvSpPr>
          <p:cNvPr id="10" name="Chevron 9"/>
          <p:cNvSpPr/>
          <p:nvPr/>
        </p:nvSpPr>
        <p:spPr>
          <a:xfrm>
            <a:off x="5715000" y="1645920"/>
            <a:ext cx="1005840" cy="594360"/>
          </a:xfrm>
          <a:prstGeom prst="chevron">
            <a:avLst/>
          </a:prstGeom>
          <a:solidFill>
            <a:srgbClr val="7A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⚙ EQUIPAMIENTO LIOFILIZADOS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Liofilizadora ORZF-5: 50kg/batch, 24 bandejas (61×58cm), 380V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Blast Chiller: Pre-enfriamiento obligatorio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Ciclos largos: 12-24-48 horas (proceso continuo)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Blast Chiller compartido con Línea Tartas (coordinar)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Control de calidad obligatorio antes de liberación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Estado: Equipamiento adquirido, pendiente instalación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5D23"/>
                </a:solidFill>
                <a:latin typeface="Segoe UI"/>
              </a:defRPr>
            </a:pPr>
            <a:r>
              <a:t>🍽  LÍNEA VIANDAS</a:t>
            </a:r>
          </a:p>
        </p:txBody>
      </p:sp>
      <p:sp>
        <p:nvSpPr>
          <p:cNvPr id="15" name="Chevron 14"/>
          <p:cNvSpPr/>
          <p:nvPr/>
        </p:nvSpPr>
        <p:spPr>
          <a:xfrm>
            <a:off x="6858000" y="1645920"/>
            <a:ext cx="914400" cy="59436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PREPARACIÓN</a:t>
            </a:r>
          </a:p>
        </p:txBody>
      </p:sp>
      <p:sp>
        <p:nvSpPr>
          <p:cNvPr id="16" name="Chevron 15"/>
          <p:cNvSpPr/>
          <p:nvPr/>
        </p:nvSpPr>
        <p:spPr>
          <a:xfrm>
            <a:off x="7818120" y="1645920"/>
            <a:ext cx="914400" cy="59436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COCCIÓN</a:t>
            </a:r>
            <a:br/>
            <a:r>
              <a:t>Sous vide/Wok</a:t>
            </a:r>
          </a:p>
        </p:txBody>
      </p:sp>
      <p:sp>
        <p:nvSpPr>
          <p:cNvPr id="17" name="Chevron 16"/>
          <p:cNvSpPr/>
          <p:nvPr/>
        </p:nvSpPr>
        <p:spPr>
          <a:xfrm>
            <a:off x="8778240" y="1645920"/>
            <a:ext cx="914400" cy="59436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ENVASADO</a:t>
            </a:r>
          </a:p>
        </p:txBody>
      </p:sp>
      <p:sp>
        <p:nvSpPr>
          <p:cNvPr id="18" name="Chevron 17"/>
          <p:cNvSpPr/>
          <p:nvPr/>
        </p:nvSpPr>
        <p:spPr>
          <a:xfrm>
            <a:off x="9738360" y="1645920"/>
            <a:ext cx="914400" cy="59436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CONTROL DE</a:t>
            </a:r>
            <a:br/>
            <a:r>
              <a:t>CALIDAD</a:t>
            </a:r>
          </a:p>
        </p:txBody>
      </p:sp>
      <p:sp>
        <p:nvSpPr>
          <p:cNvPr id="19" name="Chevron 18"/>
          <p:cNvSpPr/>
          <p:nvPr/>
        </p:nvSpPr>
        <p:spPr>
          <a:xfrm>
            <a:off x="10698480" y="1645920"/>
            <a:ext cx="914400" cy="594360"/>
          </a:xfrm>
          <a:prstGeom prst="chevron">
            <a:avLst/>
          </a:prstGeom>
          <a:solidFill>
            <a:srgbClr val="8C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42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⚙ EQUIPAMIENTO VIANDAS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34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Sous vide grande + chico (60×60 cm)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Wok / Anafes disponibles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Productos: Platos preparados individuales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Control de calidad obligatorio antes de liberación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Estado: Línea pausada, equipamiento disponible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NUEVA ÁREA DE AMASADO Y EMPANADAS — Ampliación 4×4m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53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🏗 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Ampliación 4×4m (16 m²) contigua a planta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Acceso por pasillo existente (junto peladero/rompedora)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Paredes y techo: Paneles aislantes sándwich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Piso: Hormigón + epoxi antideslizante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Rejilla lineal acero inox. en suelo (≥3m)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Cortina PVC tipo carnicería en acceso (1m)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A/C frío/calor + Ventilación con filtro al exterior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Iluminación LED estanca IP65 (≥540 lux)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Zócalos sanitarios media caña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Conexión eléctrica desde tablero general + agua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8016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353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📐 DISTRIBUCIÓN DEL ESPACIO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45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ZONA AMASADO (~4 m²):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Mesada 3×0.9m + Amasadora + Sobadora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RACK INSUMOS (~3.5 m²):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Estantería 4×0.9m: Harina, sal, azúcar,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manteca, huevos, agua, aceite, especias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ZONA EMPANADAS (~4 m²):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Mesa 1.5×0.9m + Empanadora semiautomática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  + 1 Heladera comercial (rellenos)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PILETA + CIRCULACIÓN (~4.5 m²)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53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📌 VENTAJAS DE ESTA AMPLIACIÓN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✓ Libera espacio en cocina para línea Roboqbo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✓ Amasado fuera de cocina = menos polvo/harina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✓ Potencial área libre de TACC a futuro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✓ Nueva línea de empanadas congeladas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✓ Rompedora en habitación separada adyacente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✓ Acceso independiente por pasillo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Pliego: SP-OC-2026-004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Reemplaza: Mampara SP-OC-2026-003 (cancelada)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RESUMEN DE PLANTA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029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☀ TURNO MAÑANA + TARDE (Dani-Karen)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Línea Roboqbo: Mermeladas, Hummus, Salsas, Patés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Proceso: Roboqbo → Llenado → Tapado → Autoclave → QC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Opera ambos turnos sin asignación fija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029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☀ TURNO MAÑANA (Any)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Tartas y Tortillas (15 variedades + integrales)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Empanadas Congeladas (NUEVA LÍNEA)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Amasado en nueva área 4×4m (fuera de cocina)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87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🌙 TURNO TARDE (Raúl)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Escabeches/Encurtidos/Aceitunas EN OLLA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Cocción artesanal, independiente de Roboqbo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Liofilizados y Viandas (en implementación)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5029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187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5D23"/>
                </a:solidFill>
                <a:latin typeface="Segoe UI"/>
              </a:defRPr>
            </a:pPr>
            <a:r>
              <a:t>🏗 PROYECTOS EN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Ampliación 4×4m área amasado/empanadas (SP-OC-2026-004)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Compresor 3HP (SP-OC-2026-002)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Liofilizadora ORZF-5 (instalación pendiente)</a:t>
            </a:r>
          </a:p>
          <a:p>
            <a:pPr>
              <a:spcAft>
                <a:spcPts val="400"/>
              </a:spcAft>
              <a:defRPr sz="1000">
                <a:solidFill>
                  <a:srgbClr val="3C3C3C"/>
                </a:solidFill>
                <a:latin typeface="Segoe UI"/>
              </a:defRPr>
            </a:pPr>
            <a:r>
              <a:t>Formulario Web App para registro 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